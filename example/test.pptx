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801" r:id="rId2"/>
  </p:sldMasterIdLst>
  <p:notesMasterIdLst>
    <p:notesMasterId r:id="rId19"/>
  </p:notesMasterIdLst>
  <p:sldIdLst>
    <p:sldId id="831" r:id="rId3"/>
    <p:sldId id="7678" r:id="rId4"/>
    <p:sldId id="2147380146" r:id="rId5"/>
    <p:sldId id="2147380147" r:id="rId6"/>
    <p:sldId id="2147380148" r:id="rId7"/>
    <p:sldId id="2147380149" r:id="rId8"/>
    <p:sldId id="2147380151" r:id="rId9"/>
    <p:sldId id="2147380150" r:id="rId10"/>
    <p:sldId id="2147380154" r:id="rId11"/>
    <p:sldId id="2147380152" r:id="rId12"/>
    <p:sldId id="2147380153" r:id="rId13"/>
    <p:sldId id="2147380156" r:id="rId14"/>
    <p:sldId id="2147380157" r:id="rId15"/>
    <p:sldId id="2147380158" r:id="rId16"/>
    <p:sldId id="2147380155" r:id="rId17"/>
    <p:sldId id="908" r:id="rId18"/>
  </p:sldIdLst>
  <p:sldSz cx="24384000" cy="13716000"/>
  <p:notesSz cx="6858000" cy="9144000"/>
  <p:embeddedFontLst>
    <p:embeddedFont>
      <p:font typeface="Helvetica Neue" panose="020B0600000101010101" charset="-127"/>
      <p:regular r:id="rId20"/>
      <p:bold r:id="rId21"/>
      <p:italic r:id="rId22"/>
      <p:boldItalic r:id="rId23"/>
    </p:embeddedFont>
    <p:embeddedFont>
      <p:font typeface="Helvetica Neue Medium" panose="020B0600000101010101" charset="-127"/>
      <p:regular r:id="rId24"/>
    </p:embeddedFont>
    <p:embeddedFont>
      <p:font typeface="Pretendard Medium" panose="02000603000000020004" pitchFamily="50" charset="-127"/>
      <p:regular r:id="rId25"/>
    </p:embeddedFont>
    <p:embeddedFont>
      <p:font typeface="Pretendard SemiBold" panose="02000703000000020004" pitchFamily="50" charset="-127"/>
      <p:regular r:id="rId26"/>
      <p:bold r:id="rId27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기본 구역" id="{10BE7BD3-C6BD-457D-9A12-BA9EE1181958}">
          <p14:sldIdLst>
            <p14:sldId id="831"/>
            <p14:sldId id="7678"/>
          </p14:sldIdLst>
        </p14:section>
        <p14:section name="제목 없는 구역" id="{F718773C-BA8B-42D8-AF9A-4C75580764D0}">
          <p14:sldIdLst>
            <p14:sldId id="2147380146"/>
            <p14:sldId id="2147380147"/>
            <p14:sldId id="2147380148"/>
            <p14:sldId id="2147380149"/>
            <p14:sldId id="2147380151"/>
            <p14:sldId id="2147380150"/>
            <p14:sldId id="2147380154"/>
            <p14:sldId id="2147380152"/>
            <p14:sldId id="2147380153"/>
            <p14:sldId id="2147380156"/>
            <p14:sldId id="2147380157"/>
            <p14:sldId id="2147380158"/>
            <p14:sldId id="2147380155"/>
          </p14:sldIdLst>
        </p14:section>
        <p14:section name="제목 없는 구역" id="{C32A8785-7AE2-4E4F-BCDA-C5E4C6B5778B}">
          <p14:sldIdLst>
            <p14:sldId id="9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98" userDrawn="1">
          <p15:clr>
            <a:srgbClr val="A4A3A4"/>
          </p15:clr>
        </p15:guide>
        <p15:guide id="2" pos="14665" userDrawn="1">
          <p15:clr>
            <a:srgbClr val="A4A3A4"/>
          </p15:clr>
        </p15:guide>
        <p15:guide id="3" pos="717" userDrawn="1">
          <p15:clr>
            <a:srgbClr val="A4A3A4"/>
          </p15:clr>
        </p15:guide>
        <p15:guide id="4" orient="horz" pos="8312" userDrawn="1">
          <p15:clr>
            <a:srgbClr val="A4A3A4"/>
          </p15:clr>
        </p15:guide>
        <p15:guide id="5" orient="horz" pos="1462" userDrawn="1">
          <p15:clr>
            <a:srgbClr val="A4A3A4"/>
          </p15:clr>
        </p15:guide>
        <p15:guide id="6" orient="horz" pos="8017" userDrawn="1">
          <p15:clr>
            <a:srgbClr val="A4A3A4"/>
          </p15:clr>
        </p15:guide>
        <p15:guide id="7" orient="horz" pos="2438" userDrawn="1">
          <p15:clr>
            <a:srgbClr val="A4A3A4"/>
          </p15:clr>
        </p15:guide>
        <p15:guide id="8" pos="8882" userDrawn="1">
          <p15:clr>
            <a:srgbClr val="A4A3A4"/>
          </p15:clr>
        </p15:guide>
        <p15:guide id="9" pos="126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6EBB69-C67A-BA81-8115-0ED3510C2D8C}" name="서윤 최" initials="서최" userId="f86c3af090f3546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b@nanointech.co.kr" initials="l" lastIdx="2" clrIdx="0">
    <p:extLst>
      <p:ext uri="{19B8F6BF-5375-455C-9EA6-DF929625EA0E}">
        <p15:presenceInfo xmlns:p15="http://schemas.microsoft.com/office/powerpoint/2012/main" userId="8634ae707747df1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43434"/>
    <a:srgbClr val="999999"/>
    <a:srgbClr val="CAEEFB"/>
    <a:srgbClr val="828282"/>
    <a:srgbClr val="00B050"/>
    <a:srgbClr val="2735CF"/>
    <a:srgbClr val="FFFF00"/>
    <a:srgbClr val="1058F4"/>
    <a:srgbClr val="2835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77C0E9-3299-4325-A3C8-02F413AB8152}" v="34" dt="2026-02-03T09:59:19.7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3434" autoAdjust="0"/>
  </p:normalViewPr>
  <p:slideViewPr>
    <p:cSldViewPr snapToGrid="0" snapToObjects="1">
      <p:cViewPr varScale="1">
        <p:scale>
          <a:sx n="61" d="100"/>
          <a:sy n="61" d="100"/>
        </p:scale>
        <p:origin x="126" y="2724"/>
      </p:cViewPr>
      <p:guideLst>
        <p:guide orient="horz" pos="1598"/>
        <p:guide pos="14665"/>
        <p:guide pos="717"/>
        <p:guide orient="horz" pos="8312"/>
        <p:guide orient="horz" pos="1462"/>
        <p:guide orient="horz" pos="8017"/>
        <p:guide orient="horz" pos="2438"/>
        <p:guide pos="8882"/>
        <p:guide pos="12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34" Type="http://schemas.microsoft.com/office/2018/10/relationships/authors" Target="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18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87" name="Shape 18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43DCF-F186-FF64-4F7B-F161A9273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1E91EC81-1408-5C07-503F-F9F2AD106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833223AC-A756-B566-8D7D-CB1568552BB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49104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FC758-46D4-CFCA-FA85-CC2E8D9B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729A0C34-0C89-20DD-AE6C-C6EC49E6A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00B16F3F-BB35-C55B-674B-BDF6686A511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7387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E5C81-3B30-D0C6-8B0D-1F2CD02CB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592A4FFB-904C-D13C-40B6-009DDE077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7280BE3D-62FE-A5B3-1F08-1441D3BA232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40066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AE2B-A43A-1D7C-3AD7-310B13B8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D1A86CBD-1CD6-8A4C-E95D-D8072B69B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2AB9369B-DDF9-C812-133E-8CE3A63D1D3E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4274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6ED64-145D-F571-1625-053A99F4F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9F73B881-1E12-4C80-0D22-B875901F2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44E285AE-7F9F-532F-7A57-7EAB31C6EDF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7329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AA4F2-D4A9-8604-0773-C467B23EC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E1FAFEEA-B80B-F883-27F2-273A180EB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07CB7E11-1E6B-A234-680E-1CC516637BA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2066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32E97-6277-31D6-7A3E-F51A92EB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A2FA75C8-EA25-F070-72B5-626F2AC2E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BB919277-B7CB-4BDA-AAEA-930070E9869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2747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318AA-AF9C-3449-9897-84CD02CD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8EB1792B-4B1C-648C-D585-099748686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EC92E061-2D81-5544-F193-0C1B5649B99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8613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12DF8-69A3-F573-1719-A48D493C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4A4DBD47-FA00-E54B-3630-14FF14DF3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8D902CFE-2AAE-CD22-F0F0-22A483099BA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73009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D894D-9EA8-3E9A-3DF1-072461E1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1677C865-3FB6-FCE0-D648-D8A5ACA5C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4B84B535-522A-6A80-5C5E-F368FE9DC13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7972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06428-6623-515D-B014-971745A5F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F98EB117-EEAD-D961-214C-E85380224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6B1FAAAA-19C8-9379-7EC9-9F29DE9D36A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6368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CD153-6F27-25A5-C4FF-DD58F1651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EAE3E832-0E0E-6776-B6A7-0897FFFE1D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A4089238-24E7-6771-947F-7E80403EC67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6409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078C7-D05D-0A65-8F20-27C2C5C11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3" name="Shape 6513">
            <a:extLst>
              <a:ext uri="{FF2B5EF4-FFF2-40B4-BE49-F238E27FC236}">
                <a16:creationId xmlns:a16="http://schemas.microsoft.com/office/drawing/2014/main" id="{043F4A31-2EDF-35CB-2CD4-F4EF529A30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514" name="Shape 6514">
            <a:extLst>
              <a:ext uri="{FF2B5EF4-FFF2-40B4-BE49-F238E27FC236}">
                <a16:creationId xmlns:a16="http://schemas.microsoft.com/office/drawing/2014/main" id="{4BC81D1C-0319-419A-0D06-7CA392785D1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775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아보카도와 라임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프레젠테이션 제목</a:t>
            </a:r>
          </a:p>
        </p:txBody>
      </p:sp>
      <p:sp>
        <p:nvSpPr>
          <p:cNvPr id="23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sz="3420" b="1"/>
            </a:lvl1pPr>
          </a:lstStyle>
          <a:p>
            <a:r>
              <a:t>저자 및 날짜</a:t>
            </a:r>
          </a:p>
        </p:txBody>
      </p:sp>
      <p:sp>
        <p:nvSpPr>
          <p:cNvPr id="2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연어 어묵, 샐러드, 후무스가 든 그릇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3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슬라이드 부제</a:t>
            </a:r>
          </a:p>
        </p:txBody>
      </p:sp>
      <p:sp>
        <p:nvSpPr>
          <p:cNvPr id="61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파슬리 버터, 구운 헤이즐넛, 파르메산 치즈를 올린 파파르델레 파스타 그릇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dirty="0" err="1"/>
              <a:t>섹션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7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89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의제 부제</a:t>
            </a:r>
          </a:p>
        </p:txBody>
      </p:sp>
      <p:sp>
        <p:nvSpPr>
          <p:cNvPr id="90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rPr dirty="0" err="1"/>
              <a:t>내역서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9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z="5280" b="1"/>
            </a:lvl1pPr>
          </a:lstStyle>
          <a:p>
            <a:r>
              <a:t>사실 정보</a:t>
            </a:r>
          </a:p>
        </p:txBody>
      </p:sp>
      <p:sp>
        <p:nvSpPr>
          <p:cNvPr id="10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속성</a:t>
            </a:r>
          </a:p>
        </p:txBody>
      </p:sp>
      <p:sp>
        <p:nvSpPr>
          <p:cNvPr id="116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rPr dirty="0"/>
              <a:t>“</a:t>
            </a:r>
            <a:r>
              <a:rPr dirty="0" err="1"/>
              <a:t>멋진</a:t>
            </a:r>
            <a:r>
              <a:rPr dirty="0"/>
              <a:t> </a:t>
            </a:r>
            <a:r>
              <a:rPr dirty="0" err="1"/>
              <a:t>인용구</a:t>
            </a:r>
            <a:r>
              <a:rPr dirty="0"/>
              <a:t>”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11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볶음밥과 삶은 계란을 넣은 샐러드 그릇과 젓가락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연어 어묵, 샐러드, 후무스가 든 그릇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파슬리 버터, 구운 헤이즐넛, 파르메산 치즈를 올린 파파르델레 파스타 그릇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볶음밥과 삶은 계란을 넣은 샐러드 그릇과 젓가락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용도 없는 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22192337" y="12808585"/>
            <a:ext cx="515264" cy="5384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E41A960-179F-D885-1A7D-4E8086864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E5B514-AB1E-C449-90CE-8AE8C509E3CA}" type="datetimeFigureOut">
              <a:rPr kumimoji="1" lang="ko-KR" altLang="en-US" smtClean="0"/>
              <a:t>2026-08-25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ED06FE-B6A4-2BE3-BA35-E23BB98D5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559117-3BE9-375C-60C2-9D3423D6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F60AE-1725-A440-AC4F-E59F1AAADAA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57023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볶음밥과 삶은 계란을 넣은 샐러드 그릇과 젓가락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그림 1" descr="화이트, 디자인이(가) 표시된 사진&#10;&#10;자동 생성된 설명">
            <a:extLst>
              <a:ext uri="{FF2B5EF4-FFF2-40B4-BE49-F238E27FC236}">
                <a16:creationId xmlns:a16="http://schemas.microsoft.com/office/drawing/2014/main" id="{BE5C34FF-455A-56AA-4B56-1E01FA51E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" t="6502" r="49734" b="9718"/>
          <a:stretch/>
        </p:blipFill>
        <p:spPr>
          <a:xfrm>
            <a:off x="9935609" y="-1"/>
            <a:ext cx="14448391" cy="1371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28065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화이트, 디자인이(가) 표시된 사진&#10;&#10;자동 생성된 설명">
            <a:extLst>
              <a:ext uri="{FF2B5EF4-FFF2-40B4-BE49-F238E27FC236}">
                <a16:creationId xmlns:a16="http://schemas.microsoft.com/office/drawing/2014/main" id="{EC512B61-2D93-C8DA-56DF-8BC1F13C1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" t="6502" r="49806" b="9718"/>
          <a:stretch/>
        </p:blipFill>
        <p:spPr>
          <a:xfrm>
            <a:off x="9956391" y="-1"/>
            <a:ext cx="14427609" cy="13716001"/>
          </a:xfrm>
          <a:prstGeom prst="rect">
            <a:avLst/>
          </a:prstGeom>
        </p:spPr>
      </p:pic>
      <p:pic>
        <p:nvPicPr>
          <p:cNvPr id="5" name="그림 4" descr="화이트, 디자인이(가) 표시된 사진&#10;&#10;자동 생성된 설명">
            <a:extLst>
              <a:ext uri="{FF2B5EF4-FFF2-40B4-BE49-F238E27FC236}">
                <a16:creationId xmlns:a16="http://schemas.microsoft.com/office/drawing/2014/main" id="{100F4D1B-2CA9-8D0A-0369-02A48C7908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58" t="20752" r="65193"/>
          <a:stretch/>
        </p:blipFill>
        <p:spPr>
          <a:xfrm rot="10800000">
            <a:off x="0" y="0"/>
            <a:ext cx="11711699" cy="1371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637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9923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348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3D1DE3-FB93-FE8A-8887-A2D3A401A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2C96E2-CEFF-BE10-C914-C1F9DF28B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C7E392-E54E-CE6A-B73C-57E4E18218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299245-8E2C-D1BD-E2B6-55D5DC4EA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C34FF0-6AD6-AC6F-4736-8E5BCA89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095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06D16-51DF-6E50-A5C2-CA19C3E1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700" y="3419475"/>
            <a:ext cx="21031200" cy="5705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34FF3F-FE8E-28C2-41C3-627BB78A14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3700" y="9178925"/>
            <a:ext cx="21031200" cy="30003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DAFFFE-F213-9C0F-E4E7-01E98395AD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3FD05D-0DEB-A58A-BFF0-39F0C8045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C0C1B5-F5FE-1ABE-63B7-4B5B6443F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769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88D98-9BE1-83D1-670C-C8DE46D2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5D5CEA-BBC7-F0CA-8574-1510B3E02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B94981-0A13-487B-FE7E-1870A0231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268200" y="3651250"/>
            <a:ext cx="10439400" cy="8702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89EE622-EF40-56D3-649E-E866A108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79DA1D-AF62-4C3E-2A76-18D7633D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AA7C09-4E1A-2415-CBE4-8DD95E1F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266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B9B4A2-4F46-4286-2156-B3634E78F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22CA5F-E6D6-61FF-1BD3-C81FE173B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9575" y="3362325"/>
            <a:ext cx="103155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472B4B-8057-E1F3-6BE6-1461416C3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79575" y="5010150"/>
            <a:ext cx="103155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86A4FE-D8B9-A508-44A3-6B52E4065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2344400" y="3362325"/>
            <a:ext cx="10366375" cy="16478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A7068E-6D56-2B6D-B31E-02146CF1DA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5" cy="7369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9F14DC-B47D-B3EA-150E-4025611E5D4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75B8DBE-A2A4-FACE-5AA6-54EAB3BEE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15F348-E2DC-3625-92A8-32CE89F93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855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588BB-99CC-2E92-D997-7133DB50A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85E98A5-EE4A-C6D8-EDEF-B7B4BC5C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A3AB6B-44B6-25E6-C57E-CC85D4349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12AD75-E4DA-CB1D-8871-2E549DA5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8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9D1A9A-50CE-7A4E-9DB0-7FC592C855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E4F895A-6B89-950F-8AAD-76EA80E0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CD8BA5-DF58-7976-EA6F-6ADF10D4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975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A4BD31-2E97-CDEF-9C5D-0ECC489F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0E8F77-358C-8D0B-25F7-8266DF16B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0D47AB-059F-0FE7-0A63-EAE1BE31B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6E6928-A9B7-EB4F-368E-D905CF5D04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339AA0-A102-5317-C0D6-E59D4AAD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5EDC81-8E6B-FF26-ED46-9688CB66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700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0B9650-19C3-3000-7B2A-B3A221FBC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9575" y="914400"/>
            <a:ext cx="7864475" cy="3200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1E02F9-21C7-7B1E-CCA7-8E80D4C244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0366375" y="1974850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9D7DA6-B08C-BB43-95E9-DB0FAEA61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79575" y="4114800"/>
            <a:ext cx="7864475" cy="76231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809772-E2EF-874F-EC5D-599EB2CBC0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D0DEDC-63FF-99EA-0AE0-0F4F61E4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41AF3C-F4A5-0A3E-C232-1D99B4F61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194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3AB68-E9DC-51F7-854F-4158E3C05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1200" cy="2651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A41631-AF7F-4601-D60C-6A9F7DFC4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CE1597-0DAE-A0B1-3C44-4D5CA365E3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ED6495-2051-2B3C-E45A-1B87EB5E8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A4B52A-DB6A-077A-9E24-FFE44FF8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428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613C71-D578-D881-4BC4-D6CD71EDF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E3B1B1-F347-53CC-F14C-27E9F1703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621000" cy="116236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8410DC-4CDC-F2B6-D358-6CDC69EA0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1FE2905E-3211-4ADE-BC6B-ADCB34EC1D2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5B55CF-7399-3D11-1F89-FF00CAD30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0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311408-3699-10A9-FB93-A65772ECF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221200" y="12712700"/>
            <a:ext cx="5486400" cy="730250"/>
          </a:xfrm>
          <a:prstGeom prst="rect">
            <a:avLst/>
          </a:prstGeom>
        </p:spPr>
        <p:txBody>
          <a:bodyPr/>
          <a:lstStyle/>
          <a:p>
            <a:fld id="{336705CB-E9B4-4C48-836C-85945CE1D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68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제목</a:t>
            </a:r>
            <a:endParaRPr dirty="0"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 err="1"/>
              <a:t>슬라이드</a:t>
            </a:r>
            <a:r>
              <a:rPr dirty="0"/>
              <a:t> </a:t>
            </a:r>
            <a:r>
              <a:rPr dirty="0" err="1"/>
              <a:t>구분점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4" r:id="rId13"/>
    <p:sldLayoutId id="2147483666" r:id="rId14"/>
    <p:sldLayoutId id="2147483826" r:id="rId15"/>
    <p:sldLayoutId id="2147483828" r:id="rId16"/>
    <p:sldLayoutId id="2147483832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70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, 그래픽, 화이트, 라인이(가) 표시된 사진&#10;&#10;자동 생성된 설명">
            <a:extLst>
              <a:ext uri="{FF2B5EF4-FFF2-40B4-BE49-F238E27FC236}">
                <a16:creationId xmlns:a16="http://schemas.microsoft.com/office/drawing/2014/main" id="{07A9201D-DBCC-8101-430C-F944B0AD04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2" y="0"/>
            <a:ext cx="24384000" cy="13716000"/>
          </a:xfrm>
          <a:prstGeom prst="rect">
            <a:avLst/>
          </a:prstGeom>
        </p:spPr>
      </p:pic>
      <p:sp>
        <p:nvSpPr>
          <p:cNvPr id="14" name="직사각형">
            <a:extLst>
              <a:ext uri="{FF2B5EF4-FFF2-40B4-BE49-F238E27FC236}">
                <a16:creationId xmlns:a16="http://schemas.microsoft.com/office/drawing/2014/main" id="{93453EDC-3312-0100-0B0D-BA66C6650B9F}"/>
              </a:ext>
            </a:extLst>
          </p:cNvPr>
          <p:cNvSpPr/>
          <p:nvPr/>
        </p:nvSpPr>
        <p:spPr>
          <a:xfrm rot="16200000">
            <a:off x="15429569" y="4739266"/>
            <a:ext cx="13716000" cy="4237466"/>
          </a:xfrm>
          <a:prstGeom prst="rect">
            <a:avLst/>
          </a:prstGeom>
          <a:gradFill>
            <a:gsLst>
              <a:gs pos="100000">
                <a:srgbClr val="004891">
                  <a:alpha val="3000"/>
                </a:srgbClr>
              </a:gs>
              <a:gs pos="0">
                <a:schemeClr val="bg1">
                  <a:alpha val="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3" name="오각형[P] 2">
            <a:extLst>
              <a:ext uri="{FF2B5EF4-FFF2-40B4-BE49-F238E27FC236}">
                <a16:creationId xmlns:a16="http://schemas.microsoft.com/office/drawing/2014/main" id="{A8881EC7-45F5-6FCC-8218-B29309B268C9}"/>
              </a:ext>
            </a:extLst>
          </p:cNvPr>
          <p:cNvSpPr/>
          <p:nvPr/>
        </p:nvSpPr>
        <p:spPr>
          <a:xfrm rot="10800000">
            <a:off x="9835967" y="4359530"/>
            <a:ext cx="13789410" cy="4996933"/>
          </a:xfrm>
          <a:prstGeom prst="homePlate">
            <a:avLst>
              <a:gd name="adj" fmla="val 38421"/>
            </a:avLst>
          </a:prstGeom>
          <a:solidFill>
            <a:srgbClr val="FFFFFF"/>
          </a:solidFill>
          <a:ln w="12700" cap="flat">
            <a:noFill/>
            <a:miter lim="400000"/>
          </a:ln>
          <a:effectLst>
            <a:outerShdw blurRad="127000" dist="50800" dir="2700000" algn="tl" rotWithShape="0">
              <a:srgbClr val="0C0C0C">
                <a:alpha val="1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200000"/>
              </a:lnSpc>
            </a:pPr>
            <a:endParaRPr lang="ko-Kore-KR" altLang="en-US" sz="3200" dirty="0">
              <a:solidFill>
                <a:srgbClr val="FFFFFF"/>
              </a:solidFill>
              <a:latin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직사각형">
            <a:extLst>
              <a:ext uri="{FF2B5EF4-FFF2-40B4-BE49-F238E27FC236}">
                <a16:creationId xmlns:a16="http://schemas.microsoft.com/office/drawing/2014/main" id="{197FF650-3EBD-95CA-0A97-04BF70D539EC}"/>
              </a:ext>
            </a:extLst>
          </p:cNvPr>
          <p:cNvSpPr/>
          <p:nvPr/>
        </p:nvSpPr>
        <p:spPr>
          <a:xfrm rot="5400000">
            <a:off x="-4739269" y="4739266"/>
            <a:ext cx="13716000" cy="4237465"/>
          </a:xfrm>
          <a:prstGeom prst="rect">
            <a:avLst/>
          </a:prstGeom>
          <a:gradFill>
            <a:gsLst>
              <a:gs pos="100000">
                <a:srgbClr val="004891">
                  <a:alpha val="3000"/>
                </a:srgbClr>
              </a:gs>
              <a:gs pos="0">
                <a:schemeClr val="bg1">
                  <a:alpha val="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5963" name="Beyond…"/>
          <p:cNvSpPr txBox="1"/>
          <p:nvPr/>
        </p:nvSpPr>
        <p:spPr>
          <a:xfrm>
            <a:off x="12747170" y="5186726"/>
            <a:ext cx="10787743" cy="2016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algn="l" defTabSz="825500">
              <a:lnSpc>
                <a:spcPct val="150000"/>
              </a:lnSpc>
              <a:defRPr sz="5100">
                <a:solidFill>
                  <a:srgbClr val="FFFFFF"/>
                </a:solidFill>
                <a:latin typeface="Exo 2 Regular"/>
                <a:ea typeface="Exo 2 Regular"/>
                <a:cs typeface="Exo 2 Regular"/>
                <a:sym typeface="Exo 2 Regular"/>
              </a:defRPr>
            </a:pPr>
            <a:r>
              <a:rPr lang="en-US" altLang="ko-KR" sz="4400" b="1">
                <a:solidFill>
                  <a:schemeClr val="bg2">
                    <a:lumMod val="10000"/>
                  </a:schemeClr>
                </a:solidFill>
                <a:effectLst>
                  <a:outerShdw blurRad="76200" dist="38100" dir="2700000" algn="tl" rotWithShape="0">
                    <a:prstClr val="black">
                      <a:alpha val="0"/>
                    </a:prst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e-GPU</a:t>
            </a:r>
          </a:p>
          <a:p>
            <a:pPr algn="l" defTabSz="825500">
              <a:lnSpc>
                <a:spcPct val="150000"/>
              </a:lnSpc>
              <a:defRPr sz="5100">
                <a:solidFill>
                  <a:srgbClr val="FFFFFF"/>
                </a:solidFill>
                <a:latin typeface="Exo 2 Regular"/>
                <a:ea typeface="Exo 2 Regular"/>
                <a:cs typeface="Exo 2 Regular"/>
                <a:sym typeface="Exo 2 Regular"/>
              </a:defRPr>
            </a:pPr>
            <a:r>
              <a:rPr lang="en-US" sz="4400" b="1">
                <a:solidFill>
                  <a:schemeClr val="bg2">
                    <a:lumMod val="10000"/>
                  </a:schemeClr>
                </a:solidFill>
                <a:effectLst>
                  <a:outerShdw blurRad="76200" dist="38100" dir="2700000" algn="tl" rotWithShape="0">
                    <a:prstClr val="black">
                      <a:alpha val="0"/>
                    </a:prst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SCU</a:t>
            </a:r>
            <a:r>
              <a:rPr lang="ko-KR" altLang="en-US" sz="4400" b="1">
                <a:solidFill>
                  <a:schemeClr val="bg2">
                    <a:lumMod val="10000"/>
                  </a:schemeClr>
                </a:solidFill>
                <a:effectLst>
                  <a:outerShdw blurRad="76200" dist="38100" dir="2700000" algn="tl" rotWithShape="0">
                    <a:prstClr val="black">
                      <a:alpha val="0"/>
                    </a:prst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400" b="1">
                <a:solidFill>
                  <a:schemeClr val="bg2">
                    <a:lumMod val="10000"/>
                  </a:schemeClr>
                </a:solidFill>
                <a:effectLst>
                  <a:outerShdw blurRad="76200" dist="38100" dir="2700000" algn="tl" rotWithShape="0">
                    <a:prstClr val="black">
                      <a:alpha val="0"/>
                    </a:prst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UI</a:t>
            </a:r>
            <a:r>
              <a:rPr lang="ko-KR" altLang="en-US" sz="4400" b="1">
                <a:solidFill>
                  <a:schemeClr val="bg2">
                    <a:lumMod val="10000"/>
                  </a:schemeClr>
                </a:solidFill>
                <a:effectLst>
                  <a:outerShdw blurRad="76200" dist="38100" dir="2700000" algn="tl" rotWithShape="0">
                    <a:prstClr val="black">
                      <a:alpha val="0"/>
                    </a:prst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</a:t>
            </a:r>
            <a:r>
              <a:rPr lang="en-US" altLang="ko-KR" sz="4400" b="1">
                <a:solidFill>
                  <a:schemeClr val="bg2">
                    <a:lumMod val="10000"/>
                  </a:schemeClr>
                </a:solidFill>
                <a:effectLst>
                  <a:outerShdw blurRad="76200" dist="38100" dir="2700000" algn="tl" rotWithShape="0">
                    <a:prstClr val="black">
                      <a:alpha val="0"/>
                    </a:prst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Layout</a:t>
            </a:r>
            <a:r>
              <a:rPr lang="ko-KR" altLang="en-US" sz="4400" b="1">
                <a:solidFill>
                  <a:schemeClr val="bg2">
                    <a:lumMod val="10000"/>
                  </a:schemeClr>
                </a:solidFill>
                <a:effectLst>
                  <a:outerShdw blurRad="76200" dist="38100" dir="2700000" algn="tl" rotWithShape="0">
                    <a:prstClr val="black">
                      <a:alpha val="0"/>
                    </a:prstClr>
                  </a:outerShdw>
                </a:effectLst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 설계 자료</a:t>
            </a:r>
            <a:endParaRPr lang="en-US" sz="4400" b="1" dirty="0">
              <a:solidFill>
                <a:schemeClr val="bg2">
                  <a:lumMod val="10000"/>
                </a:schemeClr>
              </a:solidFill>
              <a:effectLst>
                <a:outerShdw blurRad="76200" dist="38100" dir="2700000" algn="tl" rotWithShape="0">
                  <a:prstClr val="black">
                    <a:alpha val="0"/>
                  </a:prstClr>
                </a:outerShdw>
              </a:effectLst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965" name="델타엑스는 카메라 센서를 활용한 인공지능 솔루션을 개발하여…"/>
          <p:cNvSpPr txBox="1"/>
          <p:nvPr/>
        </p:nvSpPr>
        <p:spPr>
          <a:xfrm>
            <a:off x="20613420" y="8746040"/>
            <a:ext cx="1610377" cy="6104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2500" spc="-80">
                <a:solidFill>
                  <a:srgbClr val="34343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dirty="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2026</a:t>
            </a:r>
            <a:r>
              <a:rPr lang="en-US" sz="22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rPr>
              <a:t>. 08.25</a:t>
            </a:r>
            <a:endParaRPr lang="en-US" sz="2200" dirty="0">
              <a:latin typeface="Pretendard SemiBold" panose="02000703000000020004" pitchFamily="50" charset="-127"/>
              <a:ea typeface="Pretendard SemiBold" panose="0200070300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966" name="www.deltax.ai"/>
          <p:cNvSpPr txBox="1"/>
          <p:nvPr/>
        </p:nvSpPr>
        <p:spPr>
          <a:xfrm>
            <a:off x="22023634" y="12695104"/>
            <a:ext cx="1777731" cy="425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2100">
                <a:solidFill>
                  <a:srgbClr val="AAABB5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dirty="0" err="1">
                <a:solidFill>
                  <a:schemeClr val="tx1">
                    <a:lumMod val="75000"/>
                  </a:schemeClr>
                </a:solidFill>
              </a:rPr>
              <a:t>www.deltax.ai</a:t>
            </a:r>
            <a:endParaRPr dirty="0">
              <a:solidFill>
                <a:schemeClr val="tx1">
                  <a:lumMod val="75000"/>
                </a:schemeClr>
              </a:solidFill>
            </a:endParaRPr>
          </a:p>
        </p:txBody>
      </p:sp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6098FD0F-4DE2-524B-A523-F5334D5FC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0D5E8-57CE-8A5C-EED0-200BA849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">
            <a:extLst>
              <a:ext uri="{FF2B5EF4-FFF2-40B4-BE49-F238E27FC236}">
                <a16:creationId xmlns:a16="http://schemas.microsoft.com/office/drawing/2014/main" id="{FC4ED8AA-03C7-7688-D6D9-B90182210651}"/>
              </a:ext>
            </a:extLst>
          </p:cNvPr>
          <p:cNvSpPr/>
          <p:nvPr/>
        </p:nvSpPr>
        <p:spPr>
          <a:xfrm rot="5400000">
            <a:off x="-6035339" y="6035338"/>
            <a:ext cx="13716000" cy="1645322"/>
          </a:xfrm>
          <a:prstGeom prst="rect">
            <a:avLst/>
          </a:prstGeom>
          <a:gradFill>
            <a:gsLst>
              <a:gs pos="100000">
                <a:srgbClr val="004891">
                  <a:alpha val="3000"/>
                </a:srgbClr>
              </a:gs>
              <a:gs pos="0">
                <a:schemeClr val="bg1">
                  <a:alpha val="0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A1CABE40-A79D-EFF1-9A4C-2D450BFE6E64}"/>
              </a:ext>
            </a:extLst>
          </p:cNvPr>
          <p:cNvSpPr txBox="1"/>
          <p:nvPr/>
        </p:nvSpPr>
        <p:spPr>
          <a:xfrm>
            <a:off x="654332" y="1766367"/>
            <a:ext cx="11742533" cy="1333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defRPr sz="10000">
                <a:solidFill>
                  <a:srgbClr val="2835C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r>
              <a:rPr lang="en-US" altLang="ko-KR" sz="8000" b="1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SCU UI Layout </a:t>
            </a:r>
            <a:r>
              <a:rPr lang="ko-KR" altLang="en-US" sz="8000" b="1"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설계 자료</a:t>
            </a:r>
          </a:p>
        </p:txBody>
      </p:sp>
      <p:sp>
        <p:nvSpPr>
          <p:cNvPr id="59" name="직사각형">
            <a:extLst>
              <a:ext uri="{FF2B5EF4-FFF2-40B4-BE49-F238E27FC236}">
                <a16:creationId xmlns:a16="http://schemas.microsoft.com/office/drawing/2014/main" id="{41BF9802-514D-BDBC-0ED2-94CDBEB2596C}"/>
              </a:ext>
            </a:extLst>
          </p:cNvPr>
          <p:cNvSpPr/>
          <p:nvPr/>
        </p:nvSpPr>
        <p:spPr>
          <a:xfrm rot="16200000" flipH="1">
            <a:off x="6478229" y="-556825"/>
            <a:ext cx="18000" cy="71280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63" name="오각형[P] 62">
            <a:extLst>
              <a:ext uri="{FF2B5EF4-FFF2-40B4-BE49-F238E27FC236}">
                <a16:creationId xmlns:a16="http://schemas.microsoft.com/office/drawing/2014/main" id="{D955F605-8868-C4A2-7E2A-5D51F7F4CBC7}"/>
              </a:ext>
            </a:extLst>
          </p:cNvPr>
          <p:cNvSpPr/>
          <p:nvPr/>
        </p:nvSpPr>
        <p:spPr>
          <a:xfrm>
            <a:off x="-1" y="400545"/>
            <a:ext cx="2923229" cy="1058382"/>
          </a:xfrm>
          <a:prstGeom prst="homePlate">
            <a:avLst>
              <a:gd name="adj" fmla="val 59201"/>
            </a:avLst>
          </a:prstGeom>
          <a:solidFill>
            <a:schemeClr val="bg1"/>
          </a:solidFill>
          <a:ln w="12700" cap="flat">
            <a:solidFill>
              <a:schemeClr val="tx1">
                <a:alpha val="6000"/>
              </a:schemeClr>
            </a:solidFill>
            <a:miter lim="400000"/>
          </a:ln>
          <a:effectLst>
            <a:outerShdw blurRad="101600" dir="2700000" algn="tl" rotWithShape="0">
              <a:srgbClr val="2835CF">
                <a:alpha val="12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ore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952" name="Disclaimer">
            <a:extLst>
              <a:ext uri="{FF2B5EF4-FFF2-40B4-BE49-F238E27FC236}">
                <a16:creationId xmlns:a16="http://schemas.microsoft.com/office/drawing/2014/main" id="{03DB7435-32C4-6655-8EB1-64D36690F924}"/>
              </a:ext>
            </a:extLst>
          </p:cNvPr>
          <p:cNvSpPr txBox="1"/>
          <p:nvPr/>
        </p:nvSpPr>
        <p:spPr>
          <a:xfrm>
            <a:off x="582635" y="601441"/>
            <a:ext cx="2077492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4000" spc="-119">
                <a:solidFill>
                  <a:srgbClr val="0043C9"/>
                </a:solidFill>
                <a:latin typeface="Pretendard Medium"/>
                <a:ea typeface="Pretendard Medium"/>
                <a:cs typeface="Pretendard Medium"/>
                <a:sym typeface="Pretendard Medium"/>
              </a:defRPr>
            </a:lvl1pPr>
          </a:lstStyle>
          <a:p>
            <a:r>
              <a:rPr lang="en-US" altLang="ko-KR" sz="3600" b="1" spc="0" dirty="0">
                <a:solidFill>
                  <a:srgbClr val="151515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rPr>
              <a:t>Contents</a:t>
            </a:r>
            <a:endParaRPr sz="3600" b="1" spc="0" dirty="0">
              <a:solidFill>
                <a:srgbClr val="151515"/>
              </a:solidFill>
              <a:latin typeface="Pretendard SemiBold" panose="02000503000000020004" pitchFamily="2" charset="-127"/>
              <a:ea typeface="Pretendard SemiBold" panose="02000503000000020004" pitchFamily="2" charset="-127"/>
              <a:cs typeface="Pretendard SemiBold" panose="02000503000000020004" pitchFamily="2" charset="-127"/>
            </a:endParaRPr>
          </a:p>
        </p:txBody>
      </p:sp>
      <p:pic>
        <p:nvPicPr>
          <p:cNvPr id="5953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F44D2128-A693-3A7E-D719-4B89AB62D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90BF62-BE9C-3016-BE56-7BF2A6D9A920}"/>
              </a:ext>
            </a:extLst>
          </p:cNvPr>
          <p:cNvSpPr txBox="1"/>
          <p:nvPr/>
        </p:nvSpPr>
        <p:spPr>
          <a:xfrm>
            <a:off x="9298861" y="3217511"/>
            <a:ext cx="9859995" cy="8306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ko-KR" altLang="en-US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 </a:t>
            </a: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Layout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 Physical Key </a:t>
            </a:r>
            <a:r>
              <a:rPr lang="ko-KR" altLang="en-US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동작 기준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 Menu</a:t>
            </a:r>
            <a:r>
              <a:rPr lang="ko-KR" altLang="en-US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 순서</a:t>
            </a:r>
            <a:endParaRPr lang="en-US" altLang="ko-KR" sz="3600" kern="1200">
              <a:solidFill>
                <a:prstClr val="black"/>
              </a:solidFill>
              <a:latin typeface="Pretendard Medium" panose="020B0604020202020204" charset="-127"/>
              <a:ea typeface="Pretendard Medium" panose="020B0604020202020204" charset="-127"/>
              <a:cs typeface="Pretendard Medium" panose="020B0604020202020204" charset="-127"/>
            </a:endParaRP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 Main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 BatteyPack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IMD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OBC1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OBC2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DCDC</a:t>
            </a:r>
          </a:p>
          <a:p>
            <a:pPr marL="342900" indent="-342900" algn="l" defTabSz="914400" latinLnBrk="1" hangingPunct="1">
              <a:lnSpc>
                <a:spcPct val="150000"/>
              </a:lnSpc>
              <a:buFontTx/>
              <a:buAutoNum type="arabicPeriod"/>
            </a:pPr>
            <a:r>
              <a:rPr lang="en-US" altLang="ko-KR" sz="3600" kern="1200">
                <a:solidFill>
                  <a:prstClr val="black"/>
                </a:solidFill>
                <a:latin typeface="Pretendard Medium" panose="020B0604020202020204" charset="-127"/>
                <a:ea typeface="Pretendard Medium" panose="020B0604020202020204" charset="-127"/>
                <a:cs typeface="Pretendard Medium" panose="020B0604020202020204" charset="-127"/>
              </a:rPr>
              <a:t> About</a:t>
            </a:r>
            <a:endParaRPr lang="en-US" altLang="ko-KR" sz="3600" kern="1200" dirty="0">
              <a:solidFill>
                <a:prstClr val="black"/>
              </a:solidFill>
              <a:latin typeface="Pretendard Medium" panose="020B0604020202020204" charset="-127"/>
              <a:ea typeface="Pretendard Medium" panose="020B0604020202020204" charset="-127"/>
              <a:cs typeface="Pretendard Medium" panose="020B060402020202020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756681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2AB65-25EB-E09C-3DA0-6F53A3992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BDB6975E-D4A4-D07F-BEFD-0CC63DC75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C9510F00-BA3C-3BD0-614D-064453BC945A}"/>
              </a:ext>
            </a:extLst>
          </p:cNvPr>
          <p:cNvGrpSpPr/>
          <p:nvPr/>
        </p:nvGrpSpPr>
        <p:grpSpPr>
          <a:xfrm>
            <a:off x="354137" y="290948"/>
            <a:ext cx="21148619" cy="1472710"/>
            <a:chOff x="354137" y="290948"/>
            <a:chExt cx="21148619" cy="1472710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94D97DC9-FA2E-2A51-BF6A-7C56C2746F45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F1E67294-6297-285C-363E-30A17247E2CE}"/>
                </a:ext>
              </a:extLst>
            </p:cNvPr>
            <p:cNvSpPr txBox="1"/>
            <p:nvPr/>
          </p:nvSpPr>
          <p:spPr>
            <a:xfrm>
              <a:off x="501875" y="1073150"/>
              <a:ext cx="1743234" cy="6905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1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</a:t>
              </a:r>
              <a:r>
                <a:rPr lang="en-US" altLang="ko-KR" sz="3200" kern="1200">
                  <a:solidFill>
                    <a:prstClr val="black"/>
                  </a:solidFill>
                  <a:latin typeface="Pretendard Medium" panose="020B0604020202020204" charset="-127"/>
                  <a:ea typeface="Pretendard Medium" panose="020B0604020202020204" charset="-127"/>
                  <a:cs typeface="Pretendard Medium" panose="020B0604020202020204" charset="-127"/>
                </a:rPr>
                <a:t>Layout</a:t>
              </a:r>
              <a:endParaRPr lang="en-US" altLang="ko-KR" sz="3000" spc="-60" dirty="0">
                <a:solidFill>
                  <a:srgbClr val="0C0C0C"/>
                </a:solidFill>
              </a:endParaRP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11742E83-FABA-C109-86AE-54D7893A9F3C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B02FDC4B-D78F-559F-0735-230A3A3E3D24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BBB335-AE1B-B415-3CC3-BFE132880846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EE0FD4D-82C0-F24F-09DA-C1F1FAF37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110401"/>
              </p:ext>
            </p:extLst>
          </p:nvPr>
        </p:nvGraphicFramePr>
        <p:xfrm>
          <a:off x="2033750" y="9568673"/>
          <a:ext cx="20747421" cy="3276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9536">
                  <a:extLst>
                    <a:ext uri="{9D8B030D-6E8A-4147-A177-3AD203B41FA5}">
                      <a16:colId xmlns:a16="http://schemas.microsoft.com/office/drawing/2014/main" val="787042423"/>
                    </a:ext>
                  </a:extLst>
                </a:gridCol>
                <a:gridCol w="16617885">
                  <a:extLst>
                    <a:ext uri="{9D8B030D-6E8A-4147-A177-3AD203B41FA5}">
                      <a16:colId xmlns:a16="http://schemas.microsoft.com/office/drawing/2014/main" val="2519631421"/>
                    </a:ext>
                  </a:extLst>
                </a:gridCol>
              </a:tblGrid>
              <a:tr h="51360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Item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Remark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677510"/>
                  </a:ext>
                </a:extLst>
              </a:tr>
              <a:tr h="886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Header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화면 상단에 고정되어 현재 화면의 제목과 시스템 주요 상태를 표시하는 영역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882708"/>
                  </a:ext>
                </a:extLst>
              </a:tr>
              <a:tr h="92403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Body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화</a:t>
                      </a:r>
                      <a:r>
                        <a:rPr lang="ko-KR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면의 중심 영역으로, 실제 데이터와 상세 정보를 표시하는 영역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</a:t>
                      </a: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필요시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af-ZA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Vertical Scroll </a:t>
                      </a: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적용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10179"/>
                  </a:ext>
                </a:extLst>
              </a:tr>
              <a:tr h="8864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Footer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화면 하단에 고정되어 메뉴 이동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페이지 이동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스크롤 조작 방법을 안내하는 영역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741280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5B462148-916A-B7B3-E413-F4D74FEC8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51" y="2888297"/>
            <a:ext cx="10309380" cy="62959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B1ED6F-4D4D-137D-8F4D-381C266C9C8F}"/>
              </a:ext>
            </a:extLst>
          </p:cNvPr>
          <p:cNvSpPr txBox="1"/>
          <p:nvPr/>
        </p:nvSpPr>
        <p:spPr>
          <a:xfrm>
            <a:off x="8983004" y="1986916"/>
            <a:ext cx="6230873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36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Helvetica Neue"/>
              </a:rPr>
              <a:t>디스플레이 크</a:t>
            </a:r>
            <a:r>
              <a:rPr lang="ko-KR" altLang="en-US" sz="3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</a:t>
            </a:r>
            <a:r>
              <a:rPr lang="en-US" altLang="ko-KR" sz="3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:</a:t>
            </a:r>
            <a:r>
              <a:rPr kumimoji="0" lang="ko-KR" altLang="en-US" sz="36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Helvetica Neue"/>
              </a:rPr>
              <a:t> </a:t>
            </a:r>
            <a:r>
              <a:rPr kumimoji="0" lang="en-US" altLang="ko-KR" sz="3600" b="0" i="0" u="none" strike="noStrike" cap="none" spc="0" normalizeH="0" baseline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  <a:sym typeface="Helvetica Neue"/>
              </a:rPr>
              <a:t>800 </a:t>
            </a:r>
            <a:r>
              <a:rPr lang="en-US" altLang="ko-KR" sz="3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x</a:t>
            </a:r>
            <a:r>
              <a:rPr lang="ko-KR" altLang="en-US" sz="3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480</a:t>
            </a:r>
            <a:r>
              <a:rPr lang="ko-KR" altLang="en-US" sz="3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36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px</a:t>
            </a:r>
            <a:endParaRPr kumimoji="0" lang="ko-KR" altLang="en-US" sz="36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58503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5005-59FB-C97C-2F7E-3BD35718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BABB2B6D-738A-CAA7-319F-7697ACBF0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52EC693F-E98A-4BD3-9B0C-F73C9E8F1EAB}"/>
              </a:ext>
            </a:extLst>
          </p:cNvPr>
          <p:cNvGrpSpPr/>
          <p:nvPr/>
        </p:nvGrpSpPr>
        <p:grpSpPr>
          <a:xfrm>
            <a:off x="354137" y="290948"/>
            <a:ext cx="21148619" cy="1472710"/>
            <a:chOff x="354137" y="290948"/>
            <a:chExt cx="21148619" cy="1472710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34A5EF8B-07E3-2951-4465-9317471752D0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C6DE91F4-D2C2-A399-B5FE-659A9297F899}"/>
                </a:ext>
              </a:extLst>
            </p:cNvPr>
            <p:cNvSpPr txBox="1"/>
            <p:nvPr/>
          </p:nvSpPr>
          <p:spPr>
            <a:xfrm>
              <a:off x="501875" y="1073150"/>
              <a:ext cx="4377545" cy="6905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2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</a:t>
              </a:r>
              <a:r>
                <a:rPr lang="en-US" altLang="ko-KR" sz="3200" kern="1200">
                  <a:solidFill>
                    <a:prstClr val="black"/>
                  </a:solidFill>
                  <a:latin typeface="Pretendard Medium" panose="020B0604020202020204" charset="-127"/>
                  <a:ea typeface="Pretendard Medium" panose="020B0604020202020204" charset="-127"/>
                  <a:cs typeface="Pretendard Medium" panose="020B0604020202020204" charset="-127"/>
                </a:rPr>
                <a:t>Physical Key </a:t>
              </a:r>
              <a:r>
                <a:rPr lang="ko-KR" altLang="en-US" sz="3200" kern="1200">
                  <a:solidFill>
                    <a:prstClr val="black"/>
                  </a:solidFill>
                  <a:latin typeface="Pretendard Medium" panose="020B0604020202020204" charset="-127"/>
                  <a:ea typeface="Pretendard Medium" panose="020B0604020202020204" charset="-127"/>
                  <a:cs typeface="Pretendard Medium" panose="020B0604020202020204" charset="-127"/>
                </a:rPr>
                <a:t>동작 기준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70DE44F2-2453-1250-D2FE-E9DFF721D632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7DB3B6C0-0C58-FDF7-8BA1-576CBCC04E7D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48AA71-D7EE-4654-5957-BF5C97D76326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91BC1E1-58FC-B5C0-E737-9FB405ADC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072870"/>
              </p:ext>
            </p:extLst>
          </p:nvPr>
        </p:nvGraphicFramePr>
        <p:xfrm>
          <a:off x="3320973" y="3233225"/>
          <a:ext cx="16728012" cy="637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9612">
                  <a:extLst>
                    <a:ext uri="{9D8B030D-6E8A-4147-A177-3AD203B41FA5}">
                      <a16:colId xmlns:a16="http://schemas.microsoft.com/office/drawing/2014/main" val="2519631421"/>
                    </a:ext>
                  </a:extLst>
                </a:gridCol>
                <a:gridCol w="13048400">
                  <a:extLst>
                    <a:ext uri="{9D8B030D-6E8A-4147-A177-3AD203B41FA5}">
                      <a16:colId xmlns:a16="http://schemas.microsoft.com/office/drawing/2014/main" val="126913333"/>
                    </a:ext>
                  </a:extLst>
                </a:gridCol>
              </a:tblGrid>
              <a:tr h="5151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Item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b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Remark</a:t>
                      </a:r>
                      <a:endParaRPr lang="ko-KR" altLang="en-US" sz="3200" b="1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298511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◀ / ▶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Menu </a:t>
                      </a: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간 이동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(Previous Menu / Next Menu)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882708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▲ / 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현재 화면 내용 위/아래 이동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(Scroll Up / Scroll Down)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10179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OK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선택한 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Menu </a:t>
                      </a: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진입 또는 선택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4145906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BACK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이전 화면 복귀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931125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8390077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4450191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409461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774098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707393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6826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984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E59EF-D2E4-9933-CB14-4AA7CBE2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77C43A49-A241-C193-AB83-9EBE25FB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1543B91C-8EA7-1A05-AB52-236CC6816BFB}"/>
              </a:ext>
            </a:extLst>
          </p:cNvPr>
          <p:cNvGrpSpPr/>
          <p:nvPr/>
        </p:nvGrpSpPr>
        <p:grpSpPr>
          <a:xfrm>
            <a:off x="354137" y="290948"/>
            <a:ext cx="21148619" cy="1472710"/>
            <a:chOff x="354137" y="290948"/>
            <a:chExt cx="21148619" cy="1472710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4C9D95FE-6C53-1C2E-4723-9F951728742F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9E5D9AAA-30B3-81B2-38DC-4154981050D0}"/>
                </a:ext>
              </a:extLst>
            </p:cNvPr>
            <p:cNvSpPr txBox="1"/>
            <p:nvPr/>
          </p:nvSpPr>
          <p:spPr>
            <a:xfrm>
              <a:off x="501875" y="1073150"/>
              <a:ext cx="2383281" cy="69050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3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</a:t>
              </a:r>
              <a:r>
                <a:rPr lang="en-US" altLang="ko-KR" sz="3200" kern="1200">
                  <a:solidFill>
                    <a:prstClr val="black"/>
                  </a:solidFill>
                  <a:latin typeface="Pretendard Medium" panose="020B0604020202020204" charset="-127"/>
                  <a:ea typeface="Pretendard Medium" panose="020B0604020202020204" charset="-127"/>
                  <a:cs typeface="Pretendard Medium" panose="020B0604020202020204" charset="-127"/>
                </a:rPr>
                <a:t>Menu </a:t>
              </a:r>
              <a:r>
                <a:rPr lang="ko-KR" altLang="en-US" sz="3200" kern="1200">
                  <a:solidFill>
                    <a:prstClr val="black"/>
                  </a:solidFill>
                  <a:latin typeface="Pretendard Medium" panose="020B0604020202020204" charset="-127"/>
                  <a:ea typeface="Pretendard Medium" panose="020B0604020202020204" charset="-127"/>
                  <a:cs typeface="Pretendard Medium" panose="020B0604020202020204" charset="-127"/>
                </a:rPr>
                <a:t>순서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F02616A5-C841-803D-B92D-46592EA03FFB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C00A429A-E53B-89B2-AB75-084DFB1A2149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40650DE-42A2-DAB3-246E-173352A8BF40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EFC1C669-96ED-45FF-D547-DAA2916F1B36}"/>
              </a:ext>
            </a:extLst>
          </p:cNvPr>
          <p:cNvSpPr/>
          <p:nvPr/>
        </p:nvSpPr>
        <p:spPr>
          <a:xfrm>
            <a:off x="2164205" y="4129149"/>
            <a:ext cx="2799077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Main</a:t>
            </a:r>
            <a:br>
              <a:rPr lang="en-US" altLang="ko-KR" sz="4000"/>
            </a:br>
            <a:r>
              <a:rPr lang="en-US" altLang="ko-KR"/>
              <a:t>Main-001</a:t>
            </a:r>
            <a:endParaRPr lang="ko-KR" altLang="en-US" sz="4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AB30EBB-8286-FB28-30CB-24731060C9FF}"/>
              </a:ext>
            </a:extLst>
          </p:cNvPr>
          <p:cNvSpPr/>
          <p:nvPr/>
        </p:nvSpPr>
        <p:spPr>
          <a:xfrm>
            <a:off x="6093177" y="4124680"/>
            <a:ext cx="3998642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Battery Pack 1</a:t>
            </a:r>
            <a:br>
              <a:rPr lang="en-US" altLang="ko-KR" sz="4000"/>
            </a:br>
            <a:r>
              <a:rPr lang="en-US" altLang="ko-KR"/>
              <a:t>B-PACK1-001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4DCBE1B8-359F-8500-8A00-2A8D4E14D280}"/>
              </a:ext>
            </a:extLst>
          </p:cNvPr>
          <p:cNvSpPr/>
          <p:nvPr/>
        </p:nvSpPr>
        <p:spPr>
          <a:xfrm>
            <a:off x="11182113" y="4136666"/>
            <a:ext cx="3998642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Battery Pack 2</a:t>
            </a:r>
            <a:br>
              <a:rPr lang="en-US" altLang="ko-KR" sz="4000"/>
            </a:br>
            <a:r>
              <a:rPr lang="en-US" altLang="ko-KR"/>
              <a:t>B-PACK2-001</a:t>
            </a:r>
          </a:p>
        </p:txBody>
      </p:sp>
      <p:sp>
        <p:nvSpPr>
          <p:cNvPr id="34" name="화살표: 왼쪽으로 구부러짐 33">
            <a:extLst>
              <a:ext uri="{FF2B5EF4-FFF2-40B4-BE49-F238E27FC236}">
                <a16:creationId xmlns:a16="http://schemas.microsoft.com/office/drawing/2014/main" id="{F1D340DC-BCC2-474C-07C0-3A1B287E411A}"/>
              </a:ext>
            </a:extLst>
          </p:cNvPr>
          <p:cNvSpPr/>
          <p:nvPr/>
        </p:nvSpPr>
        <p:spPr>
          <a:xfrm>
            <a:off x="22354765" y="4684667"/>
            <a:ext cx="1572576" cy="3201643"/>
          </a:xfrm>
          <a:prstGeom prst="curved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>
              <a:solidFill>
                <a:schemeClr val="tx1"/>
              </a:solidFill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DE1F5057-D71A-BE06-35F4-C4B35E1D62B0}"/>
              </a:ext>
            </a:extLst>
          </p:cNvPr>
          <p:cNvSpPr/>
          <p:nvPr/>
        </p:nvSpPr>
        <p:spPr>
          <a:xfrm>
            <a:off x="10177972" y="4174083"/>
            <a:ext cx="917988" cy="127584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9E1FD0CB-F2CB-A1C9-5AA7-7D97F84D129A}"/>
              </a:ext>
            </a:extLst>
          </p:cNvPr>
          <p:cNvSpPr/>
          <p:nvPr/>
        </p:nvSpPr>
        <p:spPr>
          <a:xfrm>
            <a:off x="12541951" y="6820229"/>
            <a:ext cx="2349059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About</a:t>
            </a:r>
          </a:p>
          <a:p>
            <a:pPr algn="ctr"/>
            <a:r>
              <a:rPr lang="en-US" altLang="ko-KR"/>
              <a:t>About-001</a:t>
            </a:r>
          </a:p>
        </p:txBody>
      </p:sp>
      <p:sp>
        <p:nvSpPr>
          <p:cNvPr id="39" name="화살표: 왼쪽으로 구부러짐 38">
            <a:extLst>
              <a:ext uri="{FF2B5EF4-FFF2-40B4-BE49-F238E27FC236}">
                <a16:creationId xmlns:a16="http://schemas.microsoft.com/office/drawing/2014/main" id="{00C988FA-C6A9-BA50-0F9B-761239195908}"/>
              </a:ext>
            </a:extLst>
          </p:cNvPr>
          <p:cNvSpPr/>
          <p:nvPr/>
        </p:nvSpPr>
        <p:spPr>
          <a:xfrm rot="10800000">
            <a:off x="583196" y="4378925"/>
            <a:ext cx="1572576" cy="3201643"/>
          </a:xfrm>
          <a:prstGeom prst="curved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E3611C-0671-F5B8-0DCC-E1C6435D953C}"/>
              </a:ext>
            </a:extLst>
          </p:cNvPr>
          <p:cNvSpPr txBox="1"/>
          <p:nvPr/>
        </p:nvSpPr>
        <p:spPr>
          <a:xfrm>
            <a:off x="6964307" y="2561162"/>
            <a:ext cx="9903352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480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순차적으로 연결된 순환형 화면 전환 구조</a:t>
            </a:r>
            <a:endParaRPr lang="en-US" altLang="ko-KR" sz="480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C985445E-77B7-BEA6-0000-5A5269C96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0530590"/>
              </p:ext>
            </p:extLst>
          </p:nvPr>
        </p:nvGraphicFramePr>
        <p:xfrm>
          <a:off x="3373046" y="9618785"/>
          <a:ext cx="167280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9612">
                  <a:extLst>
                    <a:ext uri="{9D8B030D-6E8A-4147-A177-3AD203B41FA5}">
                      <a16:colId xmlns:a16="http://schemas.microsoft.com/office/drawing/2014/main" val="2519631421"/>
                    </a:ext>
                  </a:extLst>
                </a:gridCol>
                <a:gridCol w="13048400">
                  <a:extLst>
                    <a:ext uri="{9D8B030D-6E8A-4147-A177-3AD203B41FA5}">
                      <a16:colId xmlns:a16="http://schemas.microsoft.com/office/drawing/2014/main" val="126913333"/>
                    </a:ext>
                  </a:extLst>
                </a:gridCol>
              </a:tblGrid>
              <a:tr h="5151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Item</a:t>
                      </a:r>
                      <a:endParaRPr lang="ko-KR" altLang="en-US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3200" b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Remark</a:t>
                      </a:r>
                      <a:endParaRPr lang="ko-KR" altLang="en-US" sz="3200" b="1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9298511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단순한 상태 머신으로 구현 가능</a:t>
                      </a:r>
                      <a:endParaRPr lang="en-US" alt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882708"/>
                  </a:ext>
                </a:extLst>
              </a:tr>
              <a:tr h="5151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유지보수</a:t>
                      </a:r>
                      <a:endParaRPr lang="ko-KR" alt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화면 추가</a:t>
                      </a:r>
                      <a:r>
                        <a:rPr lang="en-US" altLang="ko-KR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/</a:t>
                      </a:r>
                      <a:r>
                        <a:rPr lang="ko-KR" altLang="en-US" sz="32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삭제 시 용이</a:t>
                      </a:r>
                      <a:endParaRPr lang="ko-KR" sz="32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10179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9864B0F-5758-F8E3-397F-8D3ADFFB5966}"/>
              </a:ext>
            </a:extLst>
          </p:cNvPr>
          <p:cNvSpPr/>
          <p:nvPr/>
        </p:nvSpPr>
        <p:spPr>
          <a:xfrm>
            <a:off x="16302027" y="4136665"/>
            <a:ext cx="2536837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IMD</a:t>
            </a:r>
          </a:p>
          <a:p>
            <a:pPr algn="ctr"/>
            <a:r>
              <a:rPr lang="en-US" altLang="ko-KR"/>
              <a:t>IMD-001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3BCECA5-4456-EC15-DB7F-5FE750456F4A}"/>
              </a:ext>
            </a:extLst>
          </p:cNvPr>
          <p:cNvSpPr/>
          <p:nvPr/>
        </p:nvSpPr>
        <p:spPr>
          <a:xfrm>
            <a:off x="19846874" y="4247925"/>
            <a:ext cx="2465258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OBC1</a:t>
            </a:r>
          </a:p>
          <a:p>
            <a:pPr algn="ctr"/>
            <a:r>
              <a:rPr lang="en-US" altLang="ko-KR"/>
              <a:t>OBC1-001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5A09B4D-4A77-0C1D-24E5-8CD7574DB937}"/>
              </a:ext>
            </a:extLst>
          </p:cNvPr>
          <p:cNvSpPr/>
          <p:nvPr/>
        </p:nvSpPr>
        <p:spPr>
          <a:xfrm>
            <a:off x="19868189" y="6772341"/>
            <a:ext cx="2465259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OBC2</a:t>
            </a:r>
          </a:p>
          <a:p>
            <a:pPr algn="ctr"/>
            <a:r>
              <a:rPr lang="en-US" altLang="ko-KR"/>
              <a:t>OBC2-001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40676B3-5B62-AE06-BD6B-2174835B1D62}"/>
              </a:ext>
            </a:extLst>
          </p:cNvPr>
          <p:cNvSpPr/>
          <p:nvPr/>
        </p:nvSpPr>
        <p:spPr>
          <a:xfrm>
            <a:off x="16065066" y="6810702"/>
            <a:ext cx="2664502" cy="1399088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b="1"/>
              <a:t>DCDC</a:t>
            </a:r>
          </a:p>
          <a:p>
            <a:pPr algn="ctr"/>
            <a:r>
              <a:rPr lang="en-US" altLang="ko-KR"/>
              <a:t>DCDC-001</a:t>
            </a:r>
          </a:p>
        </p:txBody>
      </p:sp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3C75C671-F11D-8E30-7B10-4D644F533FC5}"/>
              </a:ext>
            </a:extLst>
          </p:cNvPr>
          <p:cNvSpPr/>
          <p:nvPr/>
        </p:nvSpPr>
        <p:spPr>
          <a:xfrm>
            <a:off x="5040634" y="4190771"/>
            <a:ext cx="917988" cy="127584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D5D88065-E07F-E5AE-C02E-78965B321460}"/>
              </a:ext>
            </a:extLst>
          </p:cNvPr>
          <p:cNvSpPr/>
          <p:nvPr/>
        </p:nvSpPr>
        <p:spPr>
          <a:xfrm>
            <a:off x="15298163" y="4198288"/>
            <a:ext cx="917988" cy="127584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BFF63142-F842-FFBA-973C-2F6794130FA4}"/>
              </a:ext>
            </a:extLst>
          </p:cNvPr>
          <p:cNvSpPr/>
          <p:nvPr/>
        </p:nvSpPr>
        <p:spPr>
          <a:xfrm>
            <a:off x="18895650" y="4247925"/>
            <a:ext cx="917988" cy="127584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/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6F8113D-4D4D-3469-15C9-BA0E861FFA07}"/>
              </a:ext>
            </a:extLst>
          </p:cNvPr>
          <p:cNvSpPr/>
          <p:nvPr/>
        </p:nvSpPr>
        <p:spPr>
          <a:xfrm rot="10800000">
            <a:off x="18878054" y="6866605"/>
            <a:ext cx="917988" cy="127584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24ACEBD6-CA18-7573-45B0-9D215F6CC07B}"/>
              </a:ext>
            </a:extLst>
          </p:cNvPr>
          <p:cNvSpPr/>
          <p:nvPr/>
        </p:nvSpPr>
        <p:spPr>
          <a:xfrm rot="10800000">
            <a:off x="15073308" y="6861345"/>
            <a:ext cx="917988" cy="127584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6737978D-8F24-8057-9FAE-A68F0BF29DF3}"/>
              </a:ext>
            </a:extLst>
          </p:cNvPr>
          <p:cNvSpPr/>
          <p:nvPr/>
        </p:nvSpPr>
        <p:spPr>
          <a:xfrm rot="10800000">
            <a:off x="2547451" y="6890300"/>
            <a:ext cx="9903352" cy="1275843"/>
          </a:xfrm>
          <a:prstGeom prst="righ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000"/>
          </a:p>
        </p:txBody>
      </p:sp>
    </p:spTree>
    <p:extLst>
      <p:ext uri="{BB962C8B-B14F-4D97-AF65-F5344CB8AC3E}">
        <p14:creationId xmlns:p14="http://schemas.microsoft.com/office/powerpoint/2010/main" val="253722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4D0A2-2525-5910-FC57-FF44321F4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419B239B-D6C4-013E-B1FE-A28853363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FE411D32-9D3D-DFEE-B2BA-EFCF912F2F87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D7E9AEAE-5FF7-0129-7278-5520A6E18481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7CC2A770-A801-FEE1-21F0-0215D7061C54}"/>
                </a:ext>
              </a:extLst>
            </p:cNvPr>
            <p:cNvSpPr txBox="1"/>
            <p:nvPr/>
          </p:nvSpPr>
          <p:spPr>
            <a:xfrm>
              <a:off x="501875" y="1073150"/>
              <a:ext cx="2204771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4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Main-001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E53E34E3-836C-3F20-FA68-4520A3B8BCE7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F764D247-E088-D5CD-B5F7-5C8F04CBE64B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2CA8532-3C4C-9767-D490-F0ABF7F559C3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C6B8001-B833-E983-7647-869E8CD276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416399"/>
              </p:ext>
            </p:extLst>
          </p:nvPr>
        </p:nvGraphicFramePr>
        <p:xfrm>
          <a:off x="13346723" y="2691300"/>
          <a:ext cx="10665554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108">
                  <a:extLst>
                    <a:ext uri="{9D8B030D-6E8A-4147-A177-3AD203B41FA5}">
                      <a16:colId xmlns:a16="http://schemas.microsoft.com/office/drawing/2014/main" val="787042423"/>
                    </a:ext>
                  </a:extLst>
                </a:gridCol>
                <a:gridCol w="4475723">
                  <a:extLst>
                    <a:ext uri="{9D8B030D-6E8A-4147-A177-3AD203B41FA5}">
                      <a16:colId xmlns:a16="http://schemas.microsoft.com/office/drawing/2014/main" val="2519631421"/>
                    </a:ext>
                  </a:extLst>
                </a:gridCol>
                <a:gridCol w="4475723">
                  <a:extLst>
                    <a:ext uri="{9D8B030D-6E8A-4147-A177-3AD203B41FA5}">
                      <a16:colId xmlns:a16="http://schemas.microsoft.com/office/drawing/2014/main" val="12691333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Item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Remark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410890"/>
                  </a:ext>
                </a:extLst>
              </a:tr>
              <a:tr h="370840">
                <a:tc rowSpan="7"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Header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Title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Main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827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Current Time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UTC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041017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USB</a:t>
                      </a:r>
                      <a:r>
                        <a:rPr lang="ko-KR" altLang="en-US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Memory Mount State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Mount / Unmount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74128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SD Card Mount State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Mount / Unmount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2112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FAULT Summary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None or Falut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7159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System State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Normal or Falut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7097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CAN State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OK or NOK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710940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9003DF8-AA96-92F2-0A10-97D8EC027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468569"/>
              </p:ext>
            </p:extLst>
          </p:nvPr>
        </p:nvGraphicFramePr>
        <p:xfrm>
          <a:off x="13346723" y="7699716"/>
          <a:ext cx="10665555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107">
                  <a:extLst>
                    <a:ext uri="{9D8B030D-6E8A-4147-A177-3AD203B41FA5}">
                      <a16:colId xmlns:a16="http://schemas.microsoft.com/office/drawing/2014/main" val="787042423"/>
                    </a:ext>
                  </a:extLst>
                </a:gridCol>
                <a:gridCol w="4475724">
                  <a:extLst>
                    <a:ext uri="{9D8B030D-6E8A-4147-A177-3AD203B41FA5}">
                      <a16:colId xmlns:a16="http://schemas.microsoft.com/office/drawing/2014/main" val="2519631421"/>
                    </a:ext>
                  </a:extLst>
                </a:gridCol>
                <a:gridCol w="4475724">
                  <a:extLst>
                    <a:ext uri="{9D8B030D-6E8A-4147-A177-3AD203B41FA5}">
                      <a16:colId xmlns:a16="http://schemas.microsoft.com/office/drawing/2014/main" val="12691333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2800" b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Item</a:t>
                      </a:r>
                      <a:endParaRPr lang="ko-KR" altLang="en-US" sz="2800" b="1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b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Remark</a:t>
                      </a:r>
                      <a:endParaRPr lang="ko-KR" altLang="en-US" sz="2800" b="1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298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Footer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Menu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ko-KR" sz="2800" b="0" i="0" kern="120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◀ ▶ </a:t>
                      </a: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Prev / Next Menu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882708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0851F56B-D0F0-28C8-DD3E-74BD3F81E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85" y="2817048"/>
            <a:ext cx="12308425" cy="751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79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74C9C-344B-B403-AC47-9A0981B65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9A1E27F8-F785-6017-4B52-861263A92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A46B30E0-AB1F-5A14-A1EE-8F8AF867748F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E0F0A17F-25E7-FED3-F23A-9C160A96E6A1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3449F49A-BCDD-5189-5239-955AC0C0D4D2}"/>
                </a:ext>
              </a:extLst>
            </p:cNvPr>
            <p:cNvSpPr txBox="1"/>
            <p:nvPr/>
          </p:nvSpPr>
          <p:spPr>
            <a:xfrm>
              <a:off x="501875" y="1073150"/>
              <a:ext cx="2204771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4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Main-001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2E9015FB-2BFF-9F1B-790E-E8D7E587076A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4C5C5CF0-82E7-ED96-197A-B7650447630F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19575DC-44A1-98BA-28D1-2416F1CFB473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9BB81D-3ED1-ADEB-F5EE-1385C9788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352526"/>
              </p:ext>
            </p:extLst>
          </p:nvPr>
        </p:nvGraphicFramePr>
        <p:xfrm>
          <a:off x="808893" y="2120951"/>
          <a:ext cx="22736907" cy="1088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990">
                  <a:extLst>
                    <a:ext uri="{9D8B030D-6E8A-4147-A177-3AD203B41FA5}">
                      <a16:colId xmlns:a16="http://schemas.microsoft.com/office/drawing/2014/main" val="787042423"/>
                    </a:ext>
                  </a:extLst>
                </a:gridCol>
                <a:gridCol w="4225222">
                  <a:extLst>
                    <a:ext uri="{9D8B030D-6E8A-4147-A177-3AD203B41FA5}">
                      <a16:colId xmlns:a16="http://schemas.microsoft.com/office/drawing/2014/main" val="1967517531"/>
                    </a:ext>
                  </a:extLst>
                </a:gridCol>
                <a:gridCol w="5959556">
                  <a:extLst>
                    <a:ext uri="{9D8B030D-6E8A-4147-A177-3AD203B41FA5}">
                      <a16:colId xmlns:a16="http://schemas.microsoft.com/office/drawing/2014/main" val="2519631421"/>
                    </a:ext>
                  </a:extLst>
                </a:gridCol>
                <a:gridCol w="9978139">
                  <a:extLst>
                    <a:ext uri="{9D8B030D-6E8A-4147-A177-3AD203B41FA5}">
                      <a16:colId xmlns:a16="http://schemas.microsoft.com/office/drawing/2014/main" val="126913333"/>
                    </a:ext>
                  </a:extLst>
                </a:gridCol>
              </a:tblGrid>
              <a:tr h="330442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Item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Remark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410890"/>
                  </a:ext>
                </a:extLst>
              </a:tr>
              <a:tr h="330442">
                <a:tc rowSpan="20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Body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BMS 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#1 </a:t>
                      </a:r>
                    </a:p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Summary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Voltage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Total Voltage [V]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882708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Current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Total Current [A]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10179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SoC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SoC [%]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741280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SoH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SoH [%]</a:t>
                      </a:r>
                      <a:endParaRPr lang="ko-KR" altLang="en-US" sz="2800" kern="1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112524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Min/Max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Min [V] / Cell Voltage Max[V] 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71599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Temperatue Min/Max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Temperatue Min [°C] / Temperatue Max [°C] </a:t>
                      </a:r>
                      <a:endParaRPr lang="ko-KR" altLang="en-US" sz="2800" kern="1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70977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BMS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#2 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Summary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Voltage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Total Voltage [V]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710940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Current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Total Current [A]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325095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SoC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SoC [%]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217774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SoH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SoH [%]</a:t>
                      </a:r>
                      <a:endParaRPr lang="ko-KR" altLang="en-US" sz="2800" kern="1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1330397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Min/Max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Min [V] / Cell Voltage Max [V] 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092526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Temperatue Min/Max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Temperatue Min [°C] / Temperatue Max [°C] </a:t>
                      </a:r>
                      <a:endParaRPr lang="ko-KR" altLang="en-US" sz="2800" kern="1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9521123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Device</a:t>
                      </a:r>
                      <a:b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</a:b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State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Summary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BTMS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BTMS State [Idle / Cooling / Heating]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994074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IMD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864251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EVCC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8073597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PDU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7351824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OBC1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1397817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OBC2-1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59159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OBC2-2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4569030"/>
                  </a:ext>
                </a:extLst>
              </a:tr>
              <a:tr h="330442">
                <a:tc v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OBC2-3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T.B.D</a:t>
                      </a:r>
                      <a:endParaRPr lang="ko-KR" altLang="en-US" sz="28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7047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264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ADB7-37E6-B716-6CCD-7FDE0393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C924AFE5-D22B-FD2E-9F5B-B0B211856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1E09E6DC-12AB-E508-C118-6A4AA84892F5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99C24D33-2701-C926-A9D0-34B4BD34836A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F0AB0396-AAC2-D36B-ED36-C234982F6B4D}"/>
                </a:ext>
              </a:extLst>
            </p:cNvPr>
            <p:cNvSpPr txBox="1"/>
            <p:nvPr/>
          </p:nvSpPr>
          <p:spPr>
            <a:xfrm>
              <a:off x="501875" y="1073150"/>
              <a:ext cx="2922275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4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B-PACK1-001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421878BB-D5F7-F12B-F73A-B9BAAE29514B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0EB2C604-78A5-8D42-5EEB-7EB85E73C1A1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A47603D-B39F-F695-60FF-9824AC1C9023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A7B02F31-AFDE-4181-E02E-413DBA860F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402" y="1714500"/>
            <a:ext cx="168444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92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24367-A738-C0B2-AAFE-CF9354C7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5CAD8F91-01A8-F9C2-FD8E-51C1219D4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2583030D-552F-960F-6868-A91E1C96AFF3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FCABA1E4-6576-8184-C0C3-7A3D04BAB5F0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A008513E-D977-22B5-6F2B-A2FAEF49D330}"/>
                </a:ext>
              </a:extLst>
            </p:cNvPr>
            <p:cNvSpPr txBox="1"/>
            <p:nvPr/>
          </p:nvSpPr>
          <p:spPr>
            <a:xfrm>
              <a:off x="501875" y="1073150"/>
              <a:ext cx="2978379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4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B-PACK2-001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FF278165-E039-3D23-C4CC-21F0AEFEF16C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D4B38844-771B-7DE7-0C01-EB0C2CC85E02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9CD6B26-3EF9-0A64-0F76-5727E73BD5E5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1017FC3D-2440-F115-7537-B701678A2A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402" y="1919452"/>
            <a:ext cx="168444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713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84009-3350-F29D-0D2D-EBB45E1EA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1A7B39AD-A741-376D-CE59-C00502801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477B8E8A-1DAA-82AE-ED34-AD7AA57A6461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CF55C601-4A8A-3267-4B0B-1E5F6C3694BF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25B6EF64-6C0A-C3CD-BA32-24AA94162744}"/>
                </a:ext>
              </a:extLst>
            </p:cNvPr>
            <p:cNvSpPr txBox="1"/>
            <p:nvPr/>
          </p:nvSpPr>
          <p:spPr>
            <a:xfrm>
              <a:off x="501875" y="1073150"/>
              <a:ext cx="5598969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 dirty="0">
                  <a:solidFill>
                    <a:srgbClr val="0C0C0C"/>
                  </a:solidFill>
                </a:rPr>
                <a:t>4</a:t>
              </a:r>
              <a:r>
                <a:rPr lang="en-US" altLang="ko-KR" sz="3000" spc="-60">
                  <a:solidFill>
                    <a:srgbClr val="0C0C0C"/>
                  </a:solidFill>
                </a:rPr>
                <a:t>. B-PACK1-001 / B-PACK2-001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D0A4A2E8-DBF8-0844-542B-D13954D11F84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8FD27F66-2917-25CF-EB77-6CEF748F27DE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D8770F7-B94D-07A4-B92F-4AD214A55DC6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F39B8E3-A843-3550-8C4E-520F533FA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030774"/>
              </p:ext>
            </p:extLst>
          </p:nvPr>
        </p:nvGraphicFramePr>
        <p:xfrm>
          <a:off x="1499259" y="2320203"/>
          <a:ext cx="21146399" cy="10529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8542">
                  <a:extLst>
                    <a:ext uri="{9D8B030D-6E8A-4147-A177-3AD203B41FA5}">
                      <a16:colId xmlns:a16="http://schemas.microsoft.com/office/drawing/2014/main" val="787042423"/>
                    </a:ext>
                  </a:extLst>
                </a:gridCol>
                <a:gridCol w="6946743">
                  <a:extLst>
                    <a:ext uri="{9D8B030D-6E8A-4147-A177-3AD203B41FA5}">
                      <a16:colId xmlns:a16="http://schemas.microsoft.com/office/drawing/2014/main" val="2519631421"/>
                    </a:ext>
                  </a:extLst>
                </a:gridCol>
                <a:gridCol w="10521114">
                  <a:extLst>
                    <a:ext uri="{9D8B030D-6E8A-4147-A177-3AD203B41FA5}">
                      <a16:colId xmlns:a16="http://schemas.microsoft.com/office/drawing/2014/main" val="126913333"/>
                    </a:ext>
                  </a:extLst>
                </a:gridCol>
              </a:tblGrid>
              <a:tr h="57421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Item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Remark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7410890"/>
                  </a:ext>
                </a:extLst>
              </a:tr>
              <a:tr h="714931"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Header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Title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1 / PACK 2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882708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Voltage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Total Voltage [V]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410179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Current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Total Current [A]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741280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SoC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SoC [%]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2112524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SoH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Pack SoH [%]</a:t>
                      </a:r>
                      <a:endParaRPr lang="ko-KR" altLang="en-US" sz="4000" kern="1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771599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Min [V]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870977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Max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40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Max [V] </a:t>
                      </a:r>
                      <a:endParaRPr lang="ko-KR" altLang="en-US" sz="4000" kern="1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4710940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Temperatue Min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Temperature Min [°C]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926287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Temperatue Max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Temperature Max [°C] 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181263"/>
                  </a:ext>
                </a:extLst>
              </a:tr>
              <a:tr h="57421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Body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1~N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Cell Voltage [V] </a:t>
                      </a:r>
                      <a:endParaRPr lang="ko-KR" altLang="en-US" sz="4000" kern="120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06115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Temperatue 1~N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kern="1200">
                          <a:solidFill>
                            <a:schemeClr val="dk1"/>
                          </a:solidFill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Temperature [°C] 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906385"/>
                  </a:ext>
                </a:extLst>
              </a:tr>
              <a:tr h="574210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Footer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Menu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4000" b="0" i="0" kern="120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◀ ▶ </a:t>
                      </a:r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Prev / Next Menu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320249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Scroll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4000" b="0" i="0" kern="120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▲▼ </a:t>
                      </a:r>
                      <a:r>
                        <a:rPr lang="en-US" altLang="ko-KR" sz="4000" b="0" i="0" kern="120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Page </a:t>
                      </a:r>
                      <a:r>
                        <a:rPr lang="ko-KR" altLang="ko-KR" sz="4000" b="0" i="0" kern="1200">
                          <a:solidFill>
                            <a:schemeClr val="dk1"/>
                          </a:solidFill>
                          <a:effectLst/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Up/Down</a:t>
                      </a:r>
                      <a:endParaRPr lang="en-US" altLang="ko-KR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257496"/>
                  </a:ext>
                </a:extLst>
              </a:tr>
              <a:tr h="574210">
                <a:tc vMerge="1"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Page Indicator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Page 1/N</a:t>
                      </a:r>
                      <a:endParaRPr lang="ko-KR" altLang="en-US" sz="400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7936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62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4D873-44D6-61DA-E166-79212B38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6CDFCC07-63DC-9C13-A200-69DC07A09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62F88190-DCCF-9032-6C9C-6FDD76BFECF5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B7625277-96F1-3991-9E89-C129086CD7A7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EC1B3FC7-32B0-B168-16C3-2C0147D74D81}"/>
                </a:ext>
              </a:extLst>
            </p:cNvPr>
            <p:cNvSpPr txBox="1"/>
            <p:nvPr/>
          </p:nvSpPr>
          <p:spPr>
            <a:xfrm>
              <a:off x="501875" y="1073150"/>
              <a:ext cx="2056973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>
                  <a:solidFill>
                    <a:srgbClr val="0C0C0C"/>
                  </a:solidFill>
                </a:rPr>
                <a:t>4. IMD-001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59B0B01E-52A9-68CF-8EA1-5FAD75726642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B6876E81-B062-ADF9-035F-DE0BF4D43A59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2A9DB0-DB81-D70E-03CA-BF7224F142F0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D4B684DD-D816-AEDA-6842-1B35041D6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775" y="2171700"/>
            <a:ext cx="168444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3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02128-21A6-54DB-1540-8D74558F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A2C3D9EA-7411-95E6-2BEA-5ED3D2F7F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EDBB94F9-9366-2071-3B97-88A17901D538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5FAB3F35-9775-6D50-AA66-7E01CCED9AB5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8AF280E9-3862-65B3-B630-D8443C5E03CF}"/>
                </a:ext>
              </a:extLst>
            </p:cNvPr>
            <p:cNvSpPr txBox="1"/>
            <p:nvPr/>
          </p:nvSpPr>
          <p:spPr>
            <a:xfrm>
              <a:off x="501875" y="1073150"/>
              <a:ext cx="2321789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>
                  <a:solidFill>
                    <a:srgbClr val="0C0C0C"/>
                  </a:solidFill>
                </a:rPr>
                <a:t>4. OBC1-001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0C2DB05D-2067-B23F-F2BB-5BE33510DA28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8A0DB94E-6CAF-E9EE-DF7A-0623A022BD73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A85EC9-7CC9-2461-1F77-C09B99896DBC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C7C57C32-C1AD-5E28-7CBC-16805C365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402" y="2155935"/>
            <a:ext cx="168444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251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02C5C-D251-18A2-1F3C-5C2268B6C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357FAB9B-1504-75BF-3983-7E05F761A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F5A88CC0-DCD5-C345-38A7-E1FA90137FDE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7639E189-53EA-C4FB-20F2-1F614A838D93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8D92FF7D-1F40-B2A6-D3A7-2F2F345A4296}"/>
                </a:ext>
              </a:extLst>
            </p:cNvPr>
            <p:cNvSpPr txBox="1"/>
            <p:nvPr/>
          </p:nvSpPr>
          <p:spPr>
            <a:xfrm>
              <a:off x="501875" y="1073150"/>
              <a:ext cx="2377895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>
                  <a:solidFill>
                    <a:srgbClr val="0C0C0C"/>
                  </a:solidFill>
                </a:rPr>
                <a:t>4. OBC2-001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FF34260C-D7D6-2AC4-D250-2BD22BFB5781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27C9A4D9-22D6-AC2B-F0CC-AB5F1DC4AC46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A7ACBFA-C176-48A7-99B6-4D37E80FE158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6ED4B4A3-B949-0F0B-CD3B-2EE8BCA35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402" y="1714500"/>
            <a:ext cx="168444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1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AB7C-5BED-B49E-E260-F6D78D0F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809E61B1-207C-4FE7-1F91-86FC21224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2F1971D1-F278-6FB2-C4F8-952D512C4726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C9F4B945-8AEF-CFB3-574E-CD6F9195AF18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C9557BE2-4BE0-89B8-8625-0C41DC39E4AB}"/>
                </a:ext>
              </a:extLst>
            </p:cNvPr>
            <p:cNvSpPr txBox="1"/>
            <p:nvPr/>
          </p:nvSpPr>
          <p:spPr>
            <a:xfrm>
              <a:off x="501875" y="1073150"/>
              <a:ext cx="2429191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>
                  <a:solidFill>
                    <a:srgbClr val="0C0C0C"/>
                  </a:solidFill>
                </a:rPr>
                <a:t>4. DCDC-001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B3D7491E-473C-F419-1CF2-90B520A209E7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DA454673-196D-355E-DE15-2A950368B623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14C869-15D0-F886-CC67-85A5273CDD9E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B7900DA-E497-D9F9-282D-7A23E5F0E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402" y="2108638"/>
            <a:ext cx="168444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211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AA03F-859F-F89D-DE2A-F53850347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델타엑스_로고 우측 하단.png" descr="델타엑스_로고 우측 하단.png">
            <a:extLst>
              <a:ext uri="{FF2B5EF4-FFF2-40B4-BE49-F238E27FC236}">
                <a16:creationId xmlns:a16="http://schemas.microsoft.com/office/drawing/2014/main" id="{05EE64F7-2182-B91E-8751-16959E9BA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0170" y="713689"/>
            <a:ext cx="1541195" cy="40400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그룹 5">
            <a:extLst>
              <a:ext uri="{FF2B5EF4-FFF2-40B4-BE49-F238E27FC236}">
                <a16:creationId xmlns:a16="http://schemas.microsoft.com/office/drawing/2014/main" id="{078B155C-7BA9-0B8F-766E-859B7B1A0875}"/>
              </a:ext>
            </a:extLst>
          </p:cNvPr>
          <p:cNvGrpSpPr/>
          <p:nvPr/>
        </p:nvGrpSpPr>
        <p:grpSpPr>
          <a:xfrm>
            <a:off x="354137" y="290948"/>
            <a:ext cx="21148619" cy="1463871"/>
            <a:chOff x="354137" y="290948"/>
            <a:chExt cx="21148619" cy="1463871"/>
          </a:xfrm>
        </p:grpSpPr>
        <p:sp>
          <p:nvSpPr>
            <p:cNvPr id="5" name="직사각형">
              <a:extLst>
                <a:ext uri="{FF2B5EF4-FFF2-40B4-BE49-F238E27FC236}">
                  <a16:creationId xmlns:a16="http://schemas.microsoft.com/office/drawing/2014/main" id="{AD73E73A-AF5C-AA26-2610-5ABA9FD8C3CF}"/>
                </a:ext>
              </a:extLst>
            </p:cNvPr>
            <p:cNvSpPr/>
            <p:nvPr/>
          </p:nvSpPr>
          <p:spPr>
            <a:xfrm rot="16200000" flipH="1">
              <a:off x="10920556" y="-9565379"/>
              <a:ext cx="18000" cy="21146400"/>
            </a:xfrm>
            <a:prstGeom prst="rect">
              <a:avLst/>
            </a:prstGeom>
            <a:gradFill>
              <a:gsLst>
                <a:gs pos="0">
                  <a:schemeClr val="bg1">
                    <a:lumMod val="75000"/>
                    <a:alpha val="44878"/>
                  </a:schemeClr>
                </a:gs>
                <a:gs pos="100000">
                  <a:schemeClr val="bg1"/>
                </a:gs>
              </a:gsLst>
              <a:lin ang="5400000"/>
            </a:gra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sym typeface="Helvetica Neue Medium"/>
              </a:endParaRPr>
            </a:p>
          </p:txBody>
        </p:sp>
        <p:sp>
          <p:nvSpPr>
            <p:cNvPr id="10" name="연혁">
              <a:extLst>
                <a:ext uri="{FF2B5EF4-FFF2-40B4-BE49-F238E27FC236}">
                  <a16:creationId xmlns:a16="http://schemas.microsoft.com/office/drawing/2014/main" id="{2535D3A0-F39D-8E63-92FC-44AE140ED0AA}"/>
                </a:ext>
              </a:extLst>
            </p:cNvPr>
            <p:cNvSpPr txBox="1"/>
            <p:nvPr/>
          </p:nvSpPr>
          <p:spPr>
            <a:xfrm>
              <a:off x="501875" y="1073150"/>
              <a:ext cx="2408673" cy="65889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tIns="91439" bIns="91439">
              <a:spAutoFit/>
            </a:bodyPr>
            <a:lstStyle>
              <a:lvl1pPr algn="l" defTabSz="1828800">
                <a:lnSpc>
                  <a:spcPct val="110000"/>
                </a:lnSpc>
                <a:defRPr sz="2800" spc="-84">
                  <a:solidFill>
                    <a:srgbClr val="323236"/>
                  </a:solidFill>
                  <a:latin typeface="Pretendard Medium"/>
                  <a:ea typeface="Pretendard Medium"/>
                  <a:cs typeface="Pretendard Medium"/>
                  <a:sym typeface="Pretendard Medium"/>
                </a:defRPr>
              </a:lvl1pPr>
            </a:lstStyle>
            <a:p>
              <a:pPr lvl="0">
                <a:defRPr/>
              </a:pPr>
              <a:r>
                <a:rPr lang="en-US" altLang="ko-KR" sz="3000" spc="-60">
                  <a:solidFill>
                    <a:srgbClr val="0C0C0C"/>
                  </a:solidFill>
                </a:rPr>
                <a:t>4. About-001</a:t>
              </a:r>
            </a:p>
          </p:txBody>
        </p:sp>
        <p:sp>
          <p:nvSpPr>
            <p:cNvPr id="15" name="직사각형 23">
              <a:extLst>
                <a:ext uri="{FF2B5EF4-FFF2-40B4-BE49-F238E27FC236}">
                  <a16:creationId xmlns:a16="http://schemas.microsoft.com/office/drawing/2014/main" id="{3344F8E8-E0BE-F0A9-D494-2FD1905780D4}"/>
                </a:ext>
              </a:extLst>
            </p:cNvPr>
            <p:cNvSpPr/>
            <p:nvPr/>
          </p:nvSpPr>
          <p:spPr>
            <a:xfrm>
              <a:off x="354137" y="998819"/>
              <a:ext cx="18000" cy="756000"/>
            </a:xfrm>
            <a:prstGeom prst="rect">
              <a:avLst/>
            </a:prstGeom>
            <a:solidFill>
              <a:schemeClr val="bg1">
                <a:lumMod val="75000"/>
                <a:alpha val="29656"/>
              </a:schemeClr>
            </a:solidFill>
            <a:ln w="12700" cap="flat">
              <a:noFill/>
              <a:miter lim="400000"/>
            </a:ln>
            <a:effectLst>
              <a:outerShdw blurRad="279400" dir="2700000" algn="tl" rotWithShape="0">
                <a:srgbClr val="2835CF">
                  <a:alpha val="6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p:sp>
          <p:nvSpPr>
            <p:cNvPr id="16" name="오각형[P] 24">
              <a:extLst>
                <a:ext uri="{FF2B5EF4-FFF2-40B4-BE49-F238E27FC236}">
                  <a16:creationId xmlns:a16="http://schemas.microsoft.com/office/drawing/2014/main" id="{49A241B4-0264-ECE2-CE66-75771602C7C9}"/>
                </a:ext>
              </a:extLst>
            </p:cNvPr>
            <p:cNvSpPr/>
            <p:nvPr/>
          </p:nvSpPr>
          <p:spPr>
            <a:xfrm>
              <a:off x="354972" y="290948"/>
              <a:ext cx="5650649" cy="595035"/>
            </a:xfrm>
            <a:prstGeom prst="homePlate">
              <a:avLst>
                <a:gd name="adj" fmla="val 0"/>
              </a:avLst>
            </a:prstGeom>
            <a:solidFill>
              <a:srgbClr val="FFFFFF"/>
            </a:solidFill>
            <a:ln w="12700">
              <a:noFill/>
              <a:prstDash val="solid"/>
              <a:miter lim="400000"/>
            </a:ln>
            <a:effectLst>
              <a:outerShdw blurRad="101600" dir="2700000" algn="tl" rotWithShape="0">
                <a:prstClr val="black">
                  <a:alpha val="16000"/>
                </a:prst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ctr" defTabSz="8255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ore-KR" altLang="en-US" sz="3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elvetica Neue Medium"/>
                <a:ea typeface="Helvetica Neue"/>
                <a:cs typeface="Helvetica Neue Medium"/>
                <a:sym typeface="Helvetica Neue Medium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84E3CC-AFE2-46B5-9E6B-4A65BB815B49}"/>
                </a:ext>
              </a:extLst>
            </p:cNvPr>
            <p:cNvSpPr txBox="1"/>
            <p:nvPr/>
          </p:nvSpPr>
          <p:spPr>
            <a:xfrm>
              <a:off x="501875" y="390733"/>
              <a:ext cx="5356842" cy="4103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>
              <a:def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8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</a:defRPr>
              </a:defPPr>
              <a:lvl1pPr algn="l">
                <a:defRPr sz="2000" spc="-80">
                  <a:solidFill>
                    <a:srgbClr val="C2C2C2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</a:lstStyle>
            <a:p>
              <a:r>
                <a:rPr lang="en-US" altLang="ko-KR"/>
                <a:t>e-GPU</a:t>
              </a:r>
              <a:endParaRPr lang="ko-KR" altLang="en-US" dirty="0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E04ED270-08E5-7533-4997-1255CCF7A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402" y="2313589"/>
            <a:ext cx="1684445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04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화이트, 디자인이(가) 표시된 사진&#10;&#10;자동 생성된 설명">
            <a:extLst>
              <a:ext uri="{FF2B5EF4-FFF2-40B4-BE49-F238E27FC236}">
                <a16:creationId xmlns:a16="http://schemas.microsoft.com/office/drawing/2014/main" id="{EC512B61-2D93-C8DA-56DF-8BC1F13C17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" t="6502" r="49806" b="9718"/>
          <a:stretch/>
        </p:blipFill>
        <p:spPr>
          <a:xfrm>
            <a:off x="9956391" y="-1"/>
            <a:ext cx="14427609" cy="13716001"/>
          </a:xfrm>
          <a:prstGeom prst="rect">
            <a:avLst/>
          </a:prstGeom>
        </p:spPr>
      </p:pic>
      <p:pic>
        <p:nvPicPr>
          <p:cNvPr id="3" name="그림 2" descr="화이트, 디자인이(가) 표시된 사진&#10;&#10;자동 생성된 설명">
            <a:extLst>
              <a:ext uri="{FF2B5EF4-FFF2-40B4-BE49-F238E27FC236}">
                <a16:creationId xmlns:a16="http://schemas.microsoft.com/office/drawing/2014/main" id="{100F4D1B-2CA9-8D0A-0369-02A48C79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58" t="20752" r="65193"/>
          <a:stretch/>
        </p:blipFill>
        <p:spPr>
          <a:xfrm rot="10800000">
            <a:off x="0" y="0"/>
            <a:ext cx="11711699" cy="13716002"/>
          </a:xfrm>
          <a:prstGeom prst="rect">
            <a:avLst/>
          </a:prstGeom>
        </p:spPr>
      </p:pic>
      <p:pic>
        <p:nvPicPr>
          <p:cNvPr id="7204" name="델타엑스_로고 우측 하단.png" descr="델타엑스_로고 우측 하단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376" y="6343943"/>
            <a:ext cx="2965247" cy="77730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www.deltax.ai">
            <a:extLst>
              <a:ext uri="{FF2B5EF4-FFF2-40B4-BE49-F238E27FC236}">
                <a16:creationId xmlns:a16="http://schemas.microsoft.com/office/drawing/2014/main" id="{0F3F423D-E19D-2558-C704-95E7985F3153}"/>
              </a:ext>
            </a:extLst>
          </p:cNvPr>
          <p:cNvSpPr txBox="1"/>
          <p:nvPr/>
        </p:nvSpPr>
        <p:spPr>
          <a:xfrm>
            <a:off x="11293123" y="12635320"/>
            <a:ext cx="1777731" cy="425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>
              <a:defRPr sz="2100">
                <a:solidFill>
                  <a:srgbClr val="AAABB5"/>
                </a:solidFill>
                <a:latin typeface="Pretendard Light"/>
                <a:ea typeface="Pretendard Light"/>
                <a:cs typeface="Pretendard Light"/>
                <a:sym typeface="Pretendard Light"/>
              </a:defRPr>
            </a:lvl1pPr>
          </a:lstStyle>
          <a:p>
            <a:r>
              <a:rPr dirty="0" err="1">
                <a:solidFill>
                  <a:srgbClr val="000000"/>
                </a:solidFill>
              </a:rPr>
              <a:t>www.deltax.ai</a:t>
            </a:r>
            <a:endParaRPr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592261"/>
      </p:ext>
    </p:extLst>
  </p:cSld>
  <p:clrMapOvr>
    <a:masterClrMapping/>
  </p:clrMapOvr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59666</TotalTime>
  <Words>630</Words>
  <Application>Microsoft Office PowerPoint</Application>
  <PresentationFormat>사용자 지정</PresentationFormat>
  <Paragraphs>202</Paragraphs>
  <Slides>16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4" baseType="lpstr">
      <vt:lpstr>Helvetica Neue</vt:lpstr>
      <vt:lpstr>Arial</vt:lpstr>
      <vt:lpstr>Pretendard Medium</vt:lpstr>
      <vt:lpstr>Calibri</vt:lpstr>
      <vt:lpstr>Helvetica Neue Medium</vt:lpstr>
      <vt:lpstr>Pretendard SemiBold</vt:lpstr>
      <vt:lpstr>21_BasicWhite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lab</dc:creator>
  <cp:lastModifiedBy>제환 유</cp:lastModifiedBy>
  <cp:revision>1240</cp:revision>
  <dcterms:modified xsi:type="dcterms:W3CDTF">2026-08-25T01:45:47Z</dcterms:modified>
</cp:coreProperties>
</file>